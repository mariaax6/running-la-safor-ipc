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7559675" cy="10691813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4" d="100"/>
          <a:sy n="64" d="100"/>
        </p:scale>
        <p:origin x="2358" y="9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agen con títu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480" cy="159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400" cy="4871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480" cy="380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5" name="PlaceHolder 6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88A4B37-216D-4DEB-AF6F-7FE0000DFB67}" type="slidenum"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9" name="PlaceHolder 4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C0326E7-CBC9-4BD3-B7DD-39BA5ADB9B71}" type="slidenum"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800" cy="43495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058C450-5050-4193-80D2-89EAB89D7248}" type="slidenum"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7280" cy="581004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2440" cy="581004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F9F1001-1768-440E-9A39-CB193EA06AEE}" type="slidenum"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80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ACC8C42-2CA4-4598-B870-491CACE8D346}" type="slidenum"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cabezado de secció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3800" cy="285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3800" cy="1498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29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9B23DD0-34C9-4571-9B98-088F64C6198D}" type="slidenum"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7968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7968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35" name="PlaceHolder 6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E0016CF-8045-448B-9C1C-03FF842D40D7}" type="slidenum"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ació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592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5920" cy="3682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148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1480" cy="3682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43" name="PlaceHolder 8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12D7EFB-2E44-4032-A107-B739343FC9B4}" type="slidenum"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47" name="PlaceHolder 4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C51512A-E339-43DA-AA07-B1A3316FCF7F}" type="slidenum"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50" name="PlaceHolder 3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378AD6D-461B-4112-85D7-8FAE067912D0}" type="slidenum"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ido con títu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480" cy="159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400" cy="487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480" cy="380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031C69C-04E6-4589-BB20-39386C5B0CAF}" type="slidenum"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2 Marcador de contenido 4"/>
          <p:cNvSpPr/>
          <p:nvPr/>
        </p:nvSpPr>
        <p:spPr>
          <a:xfrm>
            <a:off x="6490741" y="614597"/>
            <a:ext cx="4946753" cy="50129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tabLst>
                <a:tab pos="0" algn="l"/>
              </a:tabLst>
            </a:pPr>
            <a:r>
              <a:rPr lang="en-GB" sz="1100" b="0" i="1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Nombre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: </a:t>
            </a: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visualizar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 </a:t>
            </a: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actividad</a:t>
            </a:r>
            <a:endParaRPr lang="es-ES" sz="11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defTabSz="914400">
              <a:tabLst>
                <a:tab pos="0" algn="l"/>
              </a:tabLst>
            </a:pPr>
            <a:r>
              <a:rPr lang="en-GB" sz="1100" b="0" i="1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Objetivo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: </a:t>
            </a: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mostrar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 </a:t>
            </a: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el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 </a:t>
            </a: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recorrido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 de </a:t>
            </a: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una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 </a:t>
            </a: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actividad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 junto con sus </a:t>
            </a: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estadisticas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 y </a:t>
            </a: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anotaciones</a:t>
            </a:r>
            <a:endParaRPr lang="en-GB" sz="1100" b="0" u="none" strike="noStrike" dirty="0">
              <a:solidFill>
                <a:schemeClr val="dk1"/>
              </a:solidFill>
              <a:effectLst/>
              <a:uFillTx/>
              <a:latin typeface="+mj-lt"/>
            </a:endParaRPr>
          </a:p>
          <a:p>
            <a:pPr defTabSz="914400">
              <a:tabLst>
                <a:tab pos="0" algn="l"/>
              </a:tabLst>
            </a:pPr>
            <a:endParaRPr lang="es-ES" sz="11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defTabSz="914400">
              <a:tabLst>
                <a:tab pos="0" algn="l"/>
              </a:tabLst>
            </a:pPr>
            <a:r>
              <a:rPr lang="en-GB" sz="1100" b="0" i="1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Funciones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: </a:t>
            </a:r>
            <a:endParaRPr lang="es-ES" sz="11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indent="-235080">
              <a:buClr>
                <a:srgbClr val="000000"/>
              </a:buClr>
              <a:buSzPct val="200000"/>
              <a:buFont typeface="Arial"/>
              <a:buChar char="•"/>
              <a:tabLst>
                <a:tab pos="355680" algn="l"/>
              </a:tabLst>
            </a:pPr>
            <a:r>
              <a:rPr lang="es-ES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Funciones del usuario</a:t>
            </a:r>
            <a:endParaRPr lang="es-ES" sz="11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marL="450720" lvl="1" indent="-228600" defTabSz="914400">
              <a:buClr>
                <a:srgbClr val="000000"/>
              </a:buClr>
              <a:buSzPct val="200000"/>
              <a:buFont typeface="Arial"/>
              <a:buChar char="•"/>
              <a:tabLst>
                <a:tab pos="355680" algn="l"/>
              </a:tabLst>
            </a:pPr>
            <a:r>
              <a:rPr lang="es-ES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Seleccionar actividad</a:t>
            </a:r>
            <a:endParaRPr lang="es-ES" sz="11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marL="450720" lvl="1" indent="-228600" defTabSz="914400">
              <a:buClr>
                <a:srgbClr val="000000"/>
              </a:buClr>
              <a:buSzPct val="200000"/>
              <a:buFont typeface="Arial"/>
              <a:buChar char="•"/>
              <a:tabLst>
                <a:tab pos="355680" algn="l"/>
              </a:tabLst>
            </a:pPr>
            <a:r>
              <a:rPr lang="es-ES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Visualizar recorrido</a:t>
            </a:r>
            <a:endParaRPr lang="es-ES" sz="11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marL="450720" lvl="1" indent="-228600" defTabSz="914400">
              <a:buClr>
                <a:srgbClr val="000000"/>
              </a:buClr>
              <a:buSzPct val="200000"/>
              <a:buFont typeface="Arial"/>
              <a:buChar char="•"/>
              <a:tabLst>
                <a:tab pos="355680" algn="l"/>
              </a:tabLst>
            </a:pPr>
            <a:r>
              <a:rPr lang="es-ES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Consultar estadísticas </a:t>
            </a:r>
            <a:endParaRPr lang="es-ES" sz="11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marL="450720" lvl="1" indent="-228600" defTabSz="914400">
              <a:buClr>
                <a:srgbClr val="000000"/>
              </a:buClr>
              <a:buSzPct val="200000"/>
              <a:buFont typeface="Arial"/>
              <a:buChar char="•"/>
              <a:tabLst>
                <a:tab pos="355680" algn="l"/>
              </a:tabLst>
            </a:pPr>
            <a:r>
              <a:rPr lang="es-ES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Ver anotaciones</a:t>
            </a:r>
            <a:endParaRPr lang="es-ES" sz="11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indent="-235080">
              <a:buClr>
                <a:srgbClr val="000000"/>
              </a:buClr>
              <a:buFont typeface="Wingdings" charset="2"/>
              <a:buChar char=""/>
              <a:tabLst>
                <a:tab pos="355680" algn="l"/>
              </a:tabLst>
            </a:pPr>
            <a:r>
              <a:rPr lang="es-ES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Funciones del sistema</a:t>
            </a:r>
            <a:endParaRPr lang="es-ES" sz="11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marL="450720" lvl="1" indent="-228600">
              <a:buClr>
                <a:srgbClr val="000000"/>
              </a:buClr>
              <a:buSzPct val="200000"/>
              <a:buFont typeface="Arial"/>
              <a:buChar char="•"/>
              <a:tabLst>
                <a:tab pos="355680" algn="l"/>
              </a:tabLst>
            </a:pPr>
            <a:r>
              <a:rPr lang="es-ES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Dibujar ruta  en el mapa</a:t>
            </a:r>
            <a:endParaRPr lang="es-ES" sz="1100" dirty="0">
              <a:solidFill>
                <a:srgbClr val="000000"/>
              </a:solidFill>
              <a:latin typeface="+mj-lt"/>
            </a:endParaRPr>
          </a:p>
          <a:p>
            <a:pPr marL="450720" lvl="1" indent="-228600">
              <a:buClr>
                <a:srgbClr val="000000"/>
              </a:buClr>
              <a:buSzPct val="200000"/>
              <a:buFont typeface="Arial"/>
              <a:buChar char="•"/>
              <a:tabLst>
                <a:tab pos="355680" algn="l"/>
              </a:tabLst>
            </a:pPr>
            <a:r>
              <a:rPr lang="es-ES" sz="1100" dirty="0">
                <a:solidFill>
                  <a:schemeClr val="dk1"/>
                </a:solidFill>
                <a:latin typeface="+mj-lt"/>
              </a:rPr>
              <a:t>Mostrar inicio y fin</a:t>
            </a:r>
            <a:endParaRPr lang="es-ES" sz="1100" dirty="0">
              <a:solidFill>
                <a:srgbClr val="000000"/>
              </a:solidFill>
              <a:latin typeface="+mj-lt"/>
            </a:endParaRPr>
          </a:p>
          <a:p>
            <a:pPr marL="450720" lvl="1" indent="-228600">
              <a:buClr>
                <a:srgbClr val="000000"/>
              </a:buClr>
              <a:buSzPct val="200000"/>
              <a:buFont typeface="Arial"/>
              <a:buChar char="•"/>
              <a:tabLst>
                <a:tab pos="355680" algn="l"/>
              </a:tabLst>
            </a:pPr>
            <a:r>
              <a:rPr lang="es-ES" sz="1100" dirty="0">
                <a:solidFill>
                  <a:schemeClr val="dk1"/>
                </a:solidFill>
                <a:latin typeface="+mj-lt"/>
              </a:rPr>
              <a:t>Mostrar estadísticas </a:t>
            </a:r>
            <a:r>
              <a:rPr lang="es-ES" sz="1100" dirty="0" err="1">
                <a:solidFill>
                  <a:schemeClr val="dk1"/>
                </a:solidFill>
                <a:latin typeface="+mj-lt"/>
              </a:rPr>
              <a:t>calculadaas</a:t>
            </a:r>
            <a:r>
              <a:rPr lang="es-ES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 </a:t>
            </a:r>
            <a:endParaRPr lang="es-ES" sz="1100" dirty="0">
              <a:solidFill>
                <a:srgbClr val="000000"/>
              </a:solidFill>
              <a:latin typeface="+mj-lt"/>
            </a:endParaRPr>
          </a:p>
          <a:p>
            <a:pPr marL="450720" lvl="1" indent="-228600">
              <a:buClr>
                <a:srgbClr val="000000"/>
              </a:buClr>
              <a:buSzPct val="200000"/>
              <a:buFont typeface="Arial"/>
              <a:buChar char="•"/>
              <a:tabLst>
                <a:tab pos="355680" algn="l"/>
              </a:tabLst>
            </a:pPr>
            <a:r>
              <a:rPr lang="es-ES" sz="1100" dirty="0">
                <a:solidFill>
                  <a:schemeClr val="dk1"/>
                </a:solidFill>
                <a:latin typeface="+mj-lt"/>
              </a:rPr>
              <a:t>Cargar anotaciones</a:t>
            </a:r>
            <a:endParaRPr lang="es-ES" sz="1100" dirty="0">
              <a:solidFill>
                <a:srgbClr val="000000"/>
              </a:solidFill>
              <a:latin typeface="+mj-lt"/>
            </a:endParaRPr>
          </a:p>
          <a:p>
            <a:pPr defTabSz="914400">
              <a:tabLst>
                <a:tab pos="0" algn="l"/>
              </a:tabLst>
            </a:pPr>
            <a:endParaRPr lang="en-GB" sz="1200" b="0" i="1" u="none" strike="noStrike" dirty="0">
              <a:solidFill>
                <a:schemeClr val="dk1"/>
              </a:solidFill>
              <a:effectLst/>
              <a:uFillTx/>
              <a:latin typeface="+mj-lt"/>
            </a:endParaRPr>
          </a:p>
          <a:p>
            <a:pPr defTabSz="914400">
              <a:tabLst>
                <a:tab pos="0" algn="l"/>
              </a:tabLst>
            </a:pPr>
            <a:r>
              <a:rPr lang="en-GB" sz="1200" b="0" i="1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Enlaces</a:t>
            </a:r>
            <a:r>
              <a:rPr lang="en-GB" sz="12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: </a:t>
            </a:r>
            <a:endParaRPr lang="es-ES" sz="12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marL="268200" defTabSz="914400">
              <a:tabLst>
                <a:tab pos="0" algn="l"/>
              </a:tabLst>
            </a:pP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► </a:t>
            </a:r>
            <a:r>
              <a:rPr lang="es-ES" sz="1100" b="1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Navegacionales</a:t>
            </a:r>
            <a:endParaRPr lang="es-ES" sz="1100" b="1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marL="268200" defTabSz="914400">
              <a:tabLst>
                <a:tab pos="0" algn="l"/>
              </a:tabLst>
            </a:pP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► </a:t>
            </a:r>
            <a:r>
              <a:rPr lang="es-ES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actividades</a:t>
            </a:r>
          </a:p>
          <a:p>
            <a:pPr marL="268200">
              <a:tabLst>
                <a:tab pos="0" algn="l"/>
              </a:tabLst>
            </a:pP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►</a:t>
            </a:r>
            <a:r>
              <a:rPr lang="en-GB" sz="1100" b="1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Funcionales</a:t>
            </a:r>
            <a:endParaRPr lang="en-GB" sz="1100" b="1" u="none" strike="noStrike" dirty="0">
              <a:solidFill>
                <a:schemeClr val="dk1"/>
              </a:solidFill>
              <a:effectLst/>
              <a:uFillTx/>
              <a:latin typeface="+mj-lt"/>
            </a:endParaRPr>
          </a:p>
          <a:p>
            <a:pPr marL="268200">
              <a:tabLst>
                <a:tab pos="0" algn="l"/>
              </a:tabLst>
            </a:pP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► </a:t>
            </a: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mostrar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  </a:t>
            </a: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estadisticas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 </a:t>
            </a:r>
            <a:endParaRPr lang="es-ES" sz="1100" b="1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GB" sz="1100" b="0" i="1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Objetos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:</a:t>
            </a:r>
            <a:endParaRPr lang="es-ES" sz="11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Activity, </a:t>
            </a: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Trackpoint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, annotation, </a:t>
            </a: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MapProjection</a:t>
            </a:r>
            <a:endParaRPr lang="es-ES" sz="11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GB" sz="1100" b="0" i="1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Restricciones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: </a:t>
            </a:r>
            <a:endParaRPr lang="es-ES" sz="11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marL="439650" indent="-17145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FontTx/>
              <a:buChar char="-"/>
              <a:tabLst>
                <a:tab pos="0" algn="l"/>
              </a:tabLst>
            </a:pP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Debe </a:t>
            </a: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existir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 </a:t>
            </a: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actividad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 </a:t>
            </a: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válida</a:t>
            </a:r>
            <a:endParaRPr lang="en-GB" sz="1100" b="0" u="none" strike="noStrike" dirty="0">
              <a:solidFill>
                <a:schemeClr val="dk1"/>
              </a:solidFill>
              <a:effectLst/>
              <a:uFillTx/>
              <a:latin typeface="+mj-lt"/>
            </a:endParaRPr>
          </a:p>
          <a:p>
            <a:pPr marL="439650" indent="-17145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FontTx/>
              <a:buChar char="-"/>
              <a:tabLst>
                <a:tab pos="0" algn="l"/>
              </a:tabLst>
            </a:pPr>
            <a:r>
              <a:rPr lang="en-GB" sz="1100" dirty="0">
                <a:solidFill>
                  <a:schemeClr val="dk1"/>
                </a:solidFill>
                <a:latin typeface="+mj-lt"/>
              </a:rPr>
              <a:t>Debe </a:t>
            </a:r>
            <a:r>
              <a:rPr lang="en-GB" sz="1100" dirty="0" err="1">
                <a:solidFill>
                  <a:schemeClr val="dk1"/>
                </a:solidFill>
                <a:latin typeface="+mj-lt"/>
              </a:rPr>
              <a:t>existir</a:t>
            </a:r>
            <a:r>
              <a:rPr lang="en-GB" sz="1100" dirty="0">
                <a:solidFill>
                  <a:schemeClr val="dk1"/>
                </a:solidFill>
                <a:latin typeface="+mj-lt"/>
              </a:rPr>
              <a:t> </a:t>
            </a:r>
            <a:r>
              <a:rPr lang="en-GB" sz="1100" dirty="0" err="1">
                <a:solidFill>
                  <a:schemeClr val="dk1"/>
                </a:solidFill>
                <a:latin typeface="+mj-lt"/>
              </a:rPr>
              <a:t>mapa</a:t>
            </a:r>
            <a:r>
              <a:rPr lang="en-GB" sz="1100" dirty="0">
                <a:solidFill>
                  <a:schemeClr val="dk1"/>
                </a:solidFill>
                <a:latin typeface="+mj-lt"/>
              </a:rPr>
              <a:t> </a:t>
            </a:r>
            <a:r>
              <a:rPr lang="en-GB" sz="1100" dirty="0" err="1">
                <a:solidFill>
                  <a:schemeClr val="dk1"/>
                </a:solidFill>
                <a:latin typeface="+mj-lt"/>
              </a:rPr>
              <a:t>cargando</a:t>
            </a:r>
            <a:endParaRPr lang="en-GB" sz="1100" b="0" u="none" strike="noStrike" dirty="0">
              <a:solidFill>
                <a:schemeClr val="dk1"/>
              </a:solidFill>
              <a:effectLst/>
              <a:uFillTx/>
              <a:latin typeface="+mj-lt"/>
            </a:endParaRPr>
          </a:p>
        </p:txBody>
      </p:sp>
      <p:sp>
        <p:nvSpPr>
          <p:cNvPr id="61" name="2 Marcador de contenido 2"/>
          <p:cNvSpPr/>
          <p:nvPr/>
        </p:nvSpPr>
        <p:spPr>
          <a:xfrm>
            <a:off x="439711" y="128638"/>
            <a:ext cx="4946753" cy="661693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GB" sz="1100" b="0" i="1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Nombre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: </a:t>
            </a: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Actividades</a:t>
            </a:r>
            <a:endParaRPr lang="es-ES" sz="11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defTabSz="914400"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GB" sz="1100" b="0" i="1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Objetivo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: </a:t>
            </a:r>
            <a:r>
              <a:rPr lang="es-ES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Permitir al usuario gestionar sus actividades deportivas, incluyendo la importación de archivos GPX, visualización de estadísticas y consulta de acumulados</a:t>
            </a:r>
            <a:endParaRPr lang="es-ES" sz="11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GB" sz="1100" b="0" i="1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Funciones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: </a:t>
            </a:r>
            <a:endParaRPr lang="es-ES" sz="11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indent="-23508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pos="355680" algn="l"/>
              </a:tabLst>
            </a:pPr>
            <a:r>
              <a:rPr lang="en-GB" sz="1100" dirty="0" err="1">
                <a:solidFill>
                  <a:schemeClr val="dk1"/>
                </a:solidFill>
                <a:latin typeface="+mj-lt"/>
              </a:rPr>
              <a:t>Funciones</a:t>
            </a:r>
            <a:r>
              <a:rPr lang="en-GB" sz="1100" dirty="0">
                <a:solidFill>
                  <a:schemeClr val="dk1"/>
                </a:solidFill>
                <a:latin typeface="+mj-lt"/>
              </a:rPr>
              <a:t> del </a:t>
            </a:r>
            <a:r>
              <a:rPr lang="en-GB" sz="1100" dirty="0" err="1">
                <a:solidFill>
                  <a:schemeClr val="dk1"/>
                </a:solidFill>
                <a:latin typeface="+mj-lt"/>
              </a:rPr>
              <a:t>usuario</a:t>
            </a:r>
            <a:endParaRPr lang="es-ES" sz="11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marL="450720" lvl="1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pos="355680" algn="l"/>
              </a:tabLst>
            </a:pPr>
            <a:r>
              <a:rPr lang="es-ES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Importar GPX</a:t>
            </a:r>
            <a:endParaRPr lang="es-ES" sz="11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marL="450720" lvl="1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pos="355680" algn="l"/>
              </a:tabLst>
            </a:pP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Seleccionar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 </a:t>
            </a: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actividad</a:t>
            </a:r>
            <a:endParaRPr lang="en-GB" sz="1100" b="0" u="none" strike="noStrike" dirty="0">
              <a:solidFill>
                <a:schemeClr val="dk1"/>
              </a:solidFill>
              <a:effectLst/>
              <a:uFillTx/>
              <a:latin typeface="+mj-lt"/>
            </a:endParaRPr>
          </a:p>
          <a:p>
            <a:pPr marL="450720" lvl="1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pos="355680" algn="l"/>
              </a:tabLst>
            </a:pPr>
            <a:r>
              <a:rPr lang="en-GB" sz="1100" dirty="0" err="1">
                <a:solidFill>
                  <a:schemeClr val="dk1"/>
                </a:solidFill>
                <a:latin typeface="+mj-lt"/>
              </a:rPr>
              <a:t>visualizar</a:t>
            </a:r>
            <a:r>
              <a:rPr lang="en-GB" sz="1100" dirty="0">
                <a:solidFill>
                  <a:schemeClr val="dk1"/>
                </a:solidFill>
                <a:latin typeface="+mj-lt"/>
              </a:rPr>
              <a:t> </a:t>
            </a:r>
            <a:r>
              <a:rPr lang="en-GB" sz="1100" dirty="0" err="1">
                <a:solidFill>
                  <a:schemeClr val="dk1"/>
                </a:solidFill>
                <a:latin typeface="+mj-lt"/>
              </a:rPr>
              <a:t>estadisticas</a:t>
            </a:r>
            <a:r>
              <a:rPr lang="en-GB" sz="1100" dirty="0">
                <a:solidFill>
                  <a:schemeClr val="dk1"/>
                </a:solidFill>
                <a:latin typeface="+mj-lt"/>
              </a:rPr>
              <a:t> </a:t>
            </a:r>
          </a:p>
          <a:p>
            <a:pPr marL="450720" lvl="1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pos="355680" algn="l"/>
              </a:tabLst>
            </a:pP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Consultar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 </a:t>
            </a: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acumulado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 </a:t>
            </a: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mensual</a:t>
            </a:r>
            <a:endParaRPr lang="en-GB" sz="1100" b="0" u="none" strike="noStrike" dirty="0">
              <a:solidFill>
                <a:schemeClr val="dk1"/>
              </a:solidFill>
              <a:effectLst/>
              <a:uFillTx/>
              <a:latin typeface="+mj-lt"/>
            </a:endParaRPr>
          </a:p>
          <a:p>
            <a:pPr indent="-2412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"/>
              <a:tabLst>
                <a:tab pos="355680" algn="l"/>
              </a:tabLst>
            </a:pPr>
            <a:r>
              <a:rPr lang="es-ES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Funciones del sistema</a:t>
            </a:r>
            <a:endParaRPr lang="es-ES" sz="11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marL="432000" lvl="1" indent="-2160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Char char="•"/>
              <a:tabLst>
                <a:tab pos="355680" algn="l"/>
              </a:tabLst>
            </a:pPr>
            <a:r>
              <a:rPr lang="es-ES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Procesar fichero GPX</a:t>
            </a:r>
          </a:p>
          <a:p>
            <a:pPr marL="432000" lvl="1" indent="-2160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Char char="•"/>
              <a:tabLst>
                <a:tab pos="355680" algn="l"/>
              </a:tabLst>
            </a:pPr>
            <a:r>
              <a:rPr lang="es-ES" sz="1100" dirty="0">
                <a:solidFill>
                  <a:schemeClr val="dk1"/>
                </a:solidFill>
                <a:latin typeface="+mj-lt"/>
              </a:rPr>
              <a:t>Registrar actividad</a:t>
            </a:r>
          </a:p>
          <a:p>
            <a:pPr marL="432000" lvl="1" indent="-2160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Char char="•"/>
              <a:tabLst>
                <a:tab pos="355680" algn="l"/>
              </a:tabLst>
            </a:pPr>
            <a:r>
              <a:rPr lang="es-ES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Calcular estadísticas </a:t>
            </a:r>
          </a:p>
          <a:p>
            <a:pPr marL="432000" lvl="1" indent="-2160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Char char="•"/>
              <a:tabLst>
                <a:tab pos="355680" algn="l"/>
              </a:tabLst>
            </a:pPr>
            <a:r>
              <a:rPr lang="es-ES" sz="1100" b="0" u="none" strike="noStrike" dirty="0">
                <a:solidFill>
                  <a:srgbClr val="000000"/>
                </a:solidFill>
                <a:effectLst/>
                <a:uFillTx/>
                <a:latin typeface="+mj-lt"/>
              </a:rPr>
              <a:t>Mostrar datos de la actividad</a:t>
            </a:r>
          </a:p>
          <a:p>
            <a:pPr marL="432000" lvl="1" indent="-2160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Char char="•"/>
              <a:tabLst>
                <a:tab pos="355680" algn="l"/>
              </a:tabLst>
            </a:pPr>
            <a:r>
              <a:rPr lang="es-ES" sz="1100" dirty="0">
                <a:solidFill>
                  <a:srgbClr val="000000"/>
                </a:solidFill>
                <a:latin typeface="+mj-lt"/>
              </a:rPr>
              <a:t>Calcular acumulados mensuales</a:t>
            </a:r>
            <a:endParaRPr lang="es-ES" sz="11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GB" sz="1100" b="0" i="1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Enlaces</a:t>
            </a:r>
            <a:r>
              <a:rPr lang="en-GB" sz="10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: </a:t>
            </a:r>
            <a:endParaRPr lang="es-ES" sz="10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marL="268200" defTabSz="914400">
              <a:lnSpc>
                <a:spcPct val="90000"/>
              </a:lnSpc>
              <a:spcBef>
                <a:spcPts val="624"/>
              </a:spcBef>
              <a:spcAft>
                <a:spcPts val="425"/>
              </a:spcAft>
              <a:tabLst>
                <a:tab pos="0" algn="l"/>
              </a:tabLst>
            </a:pPr>
            <a:r>
              <a:rPr lang="en-GB" sz="14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►</a:t>
            </a:r>
            <a:r>
              <a:rPr lang="en-GB" sz="10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 </a:t>
            </a:r>
            <a:r>
              <a:rPr lang="en-GB" sz="1100" b="1" dirty="0" err="1">
                <a:solidFill>
                  <a:schemeClr val="dk1"/>
                </a:solidFill>
                <a:latin typeface="+mj-lt"/>
              </a:rPr>
              <a:t>N</a:t>
            </a:r>
            <a:r>
              <a:rPr lang="en-GB" sz="1100" b="1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avegacionales</a:t>
            </a:r>
            <a:r>
              <a:rPr lang="en-GB" sz="1000" b="1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 </a:t>
            </a:r>
            <a:endParaRPr lang="es-ES" sz="1000" b="1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marL="268200" defTabSz="914400">
              <a:lnSpc>
                <a:spcPct val="90000"/>
              </a:lnSpc>
              <a:spcBef>
                <a:spcPts val="624"/>
              </a:spcBef>
              <a:spcAft>
                <a:spcPts val="425"/>
              </a:spcAft>
              <a:tabLst>
                <a:tab pos="0" algn="l"/>
              </a:tabLst>
            </a:pPr>
            <a:r>
              <a:rPr lang="en-GB" sz="8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►</a:t>
            </a:r>
            <a:r>
              <a:rPr lang="en-GB" sz="10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 </a:t>
            </a:r>
            <a:r>
              <a:rPr lang="en-GB" sz="1100" dirty="0" err="1">
                <a:solidFill>
                  <a:schemeClr val="dk1"/>
                </a:solidFill>
                <a:latin typeface="+mj-lt"/>
              </a:rPr>
              <a:t>visualizar</a:t>
            </a:r>
            <a:r>
              <a:rPr lang="en-GB" sz="1100" dirty="0">
                <a:solidFill>
                  <a:schemeClr val="dk1"/>
                </a:solidFill>
                <a:latin typeface="+mj-lt"/>
              </a:rPr>
              <a:t> </a:t>
            </a:r>
            <a:r>
              <a:rPr lang="en-GB" sz="1100" dirty="0" err="1">
                <a:solidFill>
                  <a:schemeClr val="dk1"/>
                </a:solidFill>
                <a:latin typeface="+mj-lt"/>
              </a:rPr>
              <a:t>actividad</a:t>
            </a:r>
            <a:endParaRPr lang="en-GB" sz="1000" b="0" u="none" strike="noStrike" dirty="0">
              <a:solidFill>
                <a:schemeClr val="dk1"/>
              </a:solidFill>
              <a:effectLst/>
              <a:uFillTx/>
              <a:latin typeface="+mj-lt"/>
            </a:endParaRPr>
          </a:p>
          <a:p>
            <a:pPr marL="268200">
              <a:lnSpc>
                <a:spcPct val="90000"/>
              </a:lnSpc>
              <a:spcBef>
                <a:spcPts val="624"/>
              </a:spcBef>
              <a:spcAft>
                <a:spcPts val="425"/>
              </a:spcAft>
              <a:tabLst>
                <a:tab pos="0" algn="l"/>
              </a:tabLst>
            </a:pPr>
            <a:r>
              <a:rPr lang="en-GB" sz="8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►</a:t>
            </a:r>
            <a:r>
              <a:rPr lang="en-GB" sz="10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 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Principal</a:t>
            </a:r>
            <a:endParaRPr lang="en-GB" sz="1000" b="0" u="none" strike="noStrike" dirty="0">
              <a:solidFill>
                <a:schemeClr val="dk1"/>
              </a:solidFill>
              <a:effectLst/>
              <a:uFillTx/>
              <a:latin typeface="+mj-lt"/>
            </a:endParaRPr>
          </a:p>
          <a:p>
            <a:pPr marL="268200">
              <a:lnSpc>
                <a:spcPct val="90000"/>
              </a:lnSpc>
              <a:spcBef>
                <a:spcPts val="624"/>
              </a:spcBef>
              <a:spcAft>
                <a:spcPts val="425"/>
              </a:spcAft>
              <a:tabLst>
                <a:tab pos="0" algn="l"/>
              </a:tabLst>
            </a:pPr>
            <a:r>
              <a:rPr lang="en-GB" sz="12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►</a:t>
            </a:r>
            <a:r>
              <a:rPr lang="en-GB" sz="10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 </a:t>
            </a:r>
            <a:r>
              <a:rPr lang="en-GB" sz="1100" b="1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funcionales</a:t>
            </a:r>
            <a:r>
              <a:rPr lang="en-GB" sz="1000" b="1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 </a:t>
            </a:r>
            <a:endParaRPr lang="en-GB" sz="1000" b="0" u="none" strike="noStrike" dirty="0">
              <a:solidFill>
                <a:schemeClr val="dk1"/>
              </a:solidFill>
              <a:effectLst/>
              <a:uFillTx/>
              <a:latin typeface="+mj-lt"/>
            </a:endParaRPr>
          </a:p>
          <a:p>
            <a:pPr marL="268200">
              <a:lnSpc>
                <a:spcPct val="90000"/>
              </a:lnSpc>
              <a:spcBef>
                <a:spcPts val="624"/>
              </a:spcBef>
              <a:spcAft>
                <a:spcPts val="425"/>
              </a:spcAft>
              <a:tabLst>
                <a:tab pos="0" algn="l"/>
              </a:tabLst>
            </a:pPr>
            <a:r>
              <a:rPr lang="en-GB" sz="8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►</a:t>
            </a:r>
            <a:r>
              <a:rPr lang="en-GB" sz="10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 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importer GPX</a:t>
            </a:r>
            <a:endParaRPr lang="en-GB" sz="1000" b="0" u="none" strike="noStrike" dirty="0">
              <a:solidFill>
                <a:schemeClr val="dk1"/>
              </a:solidFill>
              <a:effectLst/>
              <a:uFillTx/>
              <a:latin typeface="+mj-lt"/>
            </a:endParaRPr>
          </a:p>
          <a:p>
            <a:pPr marL="268200">
              <a:lnSpc>
                <a:spcPct val="90000"/>
              </a:lnSpc>
              <a:spcBef>
                <a:spcPts val="624"/>
              </a:spcBef>
              <a:spcAft>
                <a:spcPts val="425"/>
              </a:spcAft>
              <a:tabLst>
                <a:tab pos="0" algn="l"/>
              </a:tabLst>
            </a:pPr>
            <a:r>
              <a:rPr lang="en-GB" sz="8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►</a:t>
            </a:r>
            <a:r>
              <a:rPr lang="en-GB" sz="10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 </a:t>
            </a: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mostrar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 </a:t>
            </a: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estadisticas</a:t>
            </a:r>
            <a:endParaRPr lang="en-GB" sz="1000" b="0" u="none" strike="noStrike" dirty="0">
              <a:solidFill>
                <a:schemeClr val="dk1"/>
              </a:solidFill>
              <a:effectLst/>
              <a:uFillTx/>
              <a:latin typeface="+mj-lt"/>
            </a:endParaRPr>
          </a:p>
          <a:p>
            <a:pPr marL="268200">
              <a:lnSpc>
                <a:spcPct val="90000"/>
              </a:lnSpc>
              <a:spcBef>
                <a:spcPts val="624"/>
              </a:spcBef>
              <a:spcAft>
                <a:spcPts val="425"/>
              </a:spcAft>
              <a:tabLst>
                <a:tab pos="0" algn="l"/>
              </a:tabLst>
            </a:pPr>
            <a:r>
              <a:rPr lang="en-GB" sz="8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►</a:t>
            </a:r>
            <a:r>
              <a:rPr lang="en-GB" sz="10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 </a:t>
            </a: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calcular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 </a:t>
            </a: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acumulado</a:t>
            </a:r>
            <a:endParaRPr lang="es-ES" sz="11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pos="0" algn="l"/>
              </a:tabLst>
            </a:pPr>
            <a:r>
              <a:rPr lang="en-GB" sz="1100" b="0" i="1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Objetos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: </a:t>
            </a:r>
            <a:endParaRPr lang="es-ES" sz="11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pos="0" algn="l"/>
              </a:tabLst>
            </a:pP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Activity, TrackPoint, </a:t>
            </a: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usuario</a:t>
            </a:r>
            <a:endParaRPr lang="en-GB" sz="1100" i="1" dirty="0">
              <a:solidFill>
                <a:schemeClr val="dk1"/>
              </a:solidFill>
              <a:latin typeface="+mj-lt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pos="0" algn="l"/>
              </a:tabLst>
            </a:pPr>
            <a:r>
              <a:rPr lang="en-GB" sz="1100" b="0" i="1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Restricciones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: </a:t>
            </a:r>
            <a:endParaRPr lang="es-ES" sz="11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marL="268200" defTabSz="914400">
              <a:lnSpc>
                <a:spcPct val="90000"/>
              </a:lnSpc>
              <a:tabLst>
                <a:tab pos="0" algn="l"/>
              </a:tabLst>
            </a:pP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icrosoft YaHei"/>
              </a:rPr>
              <a:t>- </a:t>
            </a:r>
            <a:r>
              <a:rPr lang="es-ES" sz="1100" b="0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icrosoft YaHei"/>
              </a:rPr>
              <a:t>El fichero debe ser formato .</a:t>
            </a:r>
            <a:r>
              <a:rPr lang="es-ES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icrosoft YaHei"/>
              </a:rPr>
              <a:t>gpx</a:t>
            </a:r>
            <a:endParaRPr lang="es-ES" sz="11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marL="268200" defTabSz="914400">
              <a:lnSpc>
                <a:spcPct val="90000"/>
              </a:lnSpc>
              <a:tabLst>
                <a:tab pos="0" algn="l"/>
              </a:tabLst>
            </a:pP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icrosoft YaHei"/>
              </a:rPr>
              <a:t>- </a:t>
            </a:r>
            <a:r>
              <a:rPr lang="es-ES" sz="1100" b="0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icrosoft YaHei"/>
              </a:rPr>
              <a:t>La actividad debe existir para visualizarla</a:t>
            </a:r>
            <a:endParaRPr lang="es-ES" sz="11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marL="268200" defTabSz="914400">
              <a:lnSpc>
                <a:spcPct val="90000"/>
              </a:lnSpc>
              <a:tabLst>
                <a:tab pos="0" algn="l"/>
              </a:tabLst>
            </a:pP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icrosoft YaHei"/>
              </a:rPr>
              <a:t>- Debe </a:t>
            </a: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icrosoft YaHei"/>
              </a:rPr>
              <a:t>existir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icrosoft YaHei"/>
              </a:rPr>
              <a:t> </a:t>
            </a: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icrosoft YaHei"/>
              </a:rPr>
              <a:t>usuario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icrosoft YaHei"/>
              </a:rPr>
              <a:t> </a:t>
            </a: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icrosoft YaHei"/>
              </a:rPr>
              <a:t>autenticado</a:t>
            </a:r>
            <a:endParaRPr lang="es-ES" sz="11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5 Redondear rectángulo de esquina diagonal"/>
          <p:cNvSpPr/>
          <p:nvPr/>
        </p:nvSpPr>
        <p:spPr>
          <a:xfrm>
            <a:off x="6096000" y="3773005"/>
            <a:ext cx="1264117" cy="520115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s-ES" sz="14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Importar GPX </a:t>
            </a:r>
            <a:endParaRPr lang="es-E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5 Redondear rectángulo de esquina diagonal 1"/>
          <p:cNvSpPr/>
          <p:nvPr/>
        </p:nvSpPr>
        <p:spPr>
          <a:xfrm>
            <a:off x="7360117" y="2995053"/>
            <a:ext cx="1264117" cy="520115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s-ES" sz="14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Actividades </a:t>
            </a:r>
            <a:endParaRPr lang="es-E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5 Redondear rectángulo de esquina diagonal 3"/>
          <p:cNvSpPr/>
          <p:nvPr/>
        </p:nvSpPr>
        <p:spPr>
          <a:xfrm>
            <a:off x="9062640" y="2742634"/>
            <a:ext cx="1264117" cy="520115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s-ES" sz="14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actividad</a:t>
            </a:r>
            <a:endParaRPr lang="es-E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6" name="Conector recto de flecha 2"/>
          <p:cNvCxnSpPr>
            <a:stCxn id="63" idx="0"/>
            <a:endCxn id="64" idx="1"/>
          </p:cNvCxnSpPr>
          <p:nvPr/>
        </p:nvCxnSpPr>
        <p:spPr>
          <a:xfrm flipV="1">
            <a:off x="7360117" y="3515168"/>
            <a:ext cx="632059" cy="517895"/>
          </a:xfrm>
          <a:prstGeom prst="straightConnector1">
            <a:avLst/>
          </a:prstGeom>
          <a:ln w="0">
            <a:solidFill>
              <a:srgbClr val="4472C4"/>
            </a:solidFill>
            <a:tailEnd type="triangle" w="med" len="med"/>
          </a:ln>
        </p:spPr>
      </p:cxnSp>
      <p:cxnSp>
        <p:nvCxnSpPr>
          <p:cNvPr id="67" name="Conector recto de flecha 4"/>
          <p:cNvCxnSpPr>
            <a:cxnSpLocks/>
            <a:stCxn id="64" idx="0"/>
            <a:endCxn id="65" idx="2"/>
          </p:cNvCxnSpPr>
          <p:nvPr/>
        </p:nvCxnSpPr>
        <p:spPr>
          <a:xfrm flipV="1">
            <a:off x="8624234" y="3002692"/>
            <a:ext cx="438406" cy="252419"/>
          </a:xfrm>
          <a:prstGeom prst="straightConnector1">
            <a:avLst/>
          </a:prstGeom>
          <a:ln w="0">
            <a:solidFill>
              <a:srgbClr val="4472C4"/>
            </a:solidFill>
            <a:tailEnd type="triangle" w="med" len="med"/>
          </a:ln>
        </p:spPr>
      </p:cxnSp>
      <p:sp>
        <p:nvSpPr>
          <p:cNvPr id="68" name="5 Redondear rectángulo de esquina diagonal 4"/>
          <p:cNvSpPr/>
          <p:nvPr/>
        </p:nvSpPr>
        <p:spPr>
          <a:xfrm>
            <a:off x="8868987" y="3607497"/>
            <a:ext cx="1264117" cy="520115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s-ES" sz="14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Acumulado mensual</a:t>
            </a:r>
            <a:endParaRPr lang="es-E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5 Redondear rectángulo de esquina diagonal 5"/>
          <p:cNvSpPr/>
          <p:nvPr/>
        </p:nvSpPr>
        <p:spPr>
          <a:xfrm>
            <a:off x="8624234" y="2026356"/>
            <a:ext cx="1264117" cy="520115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s-ES" sz="14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Visualizar </a:t>
            </a:r>
            <a:endParaRPr lang="es-E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1" name="Conector recto de flecha 3"/>
          <p:cNvCxnSpPr>
            <a:cxnSpLocks/>
            <a:stCxn id="64" idx="0"/>
            <a:endCxn id="70" idx="2"/>
          </p:cNvCxnSpPr>
          <p:nvPr/>
        </p:nvCxnSpPr>
        <p:spPr>
          <a:xfrm flipV="1">
            <a:off x="8624234" y="2286414"/>
            <a:ext cx="0" cy="968697"/>
          </a:xfrm>
          <a:prstGeom prst="straightConnector1">
            <a:avLst/>
          </a:prstGeom>
          <a:ln w="0">
            <a:solidFill>
              <a:srgbClr val="4472C4"/>
            </a:solidFill>
            <a:tailEnd type="triangle" w="med" len="med"/>
          </a:ln>
        </p:spPr>
      </p:cxnSp>
      <p:cxnSp>
        <p:nvCxnSpPr>
          <p:cNvPr id="15" name="Conector recto de flecha 2">
            <a:extLst>
              <a:ext uri="{FF2B5EF4-FFF2-40B4-BE49-F238E27FC236}">
                <a16:creationId xmlns:a16="http://schemas.microsoft.com/office/drawing/2014/main" id="{7B6D5143-AB8A-DC75-890B-AA0EED163D16}"/>
              </a:ext>
            </a:extLst>
          </p:cNvPr>
          <p:cNvCxnSpPr>
            <a:cxnSpLocks/>
            <a:stCxn id="64" idx="0"/>
            <a:endCxn id="68" idx="2"/>
          </p:cNvCxnSpPr>
          <p:nvPr/>
        </p:nvCxnSpPr>
        <p:spPr>
          <a:xfrm>
            <a:off x="8624234" y="3255111"/>
            <a:ext cx="244753" cy="612444"/>
          </a:xfrm>
          <a:prstGeom prst="straightConnector1">
            <a:avLst/>
          </a:prstGeom>
          <a:ln w="0">
            <a:solidFill>
              <a:srgbClr val="4472C4"/>
            </a:solidFill>
            <a:tailEnd type="triangle" w="med" len="med"/>
          </a:ln>
        </p:spPr>
      </p:cxnSp>
      <p:cxnSp>
        <p:nvCxnSpPr>
          <p:cNvPr id="19" name="Conector recto de flecha 2">
            <a:extLst>
              <a:ext uri="{FF2B5EF4-FFF2-40B4-BE49-F238E27FC236}">
                <a16:creationId xmlns:a16="http://schemas.microsoft.com/office/drawing/2014/main" id="{3F50729D-E497-F514-1BA3-165808EFEA7C}"/>
              </a:ext>
            </a:extLst>
          </p:cNvPr>
          <p:cNvCxnSpPr>
            <a:cxnSpLocks/>
            <a:stCxn id="65" idx="0"/>
            <a:endCxn id="21" idx="2"/>
          </p:cNvCxnSpPr>
          <p:nvPr/>
        </p:nvCxnSpPr>
        <p:spPr>
          <a:xfrm>
            <a:off x="10326757" y="3002692"/>
            <a:ext cx="363714" cy="52343"/>
          </a:xfrm>
          <a:prstGeom prst="straightConnector1">
            <a:avLst/>
          </a:prstGeom>
          <a:ln w="0">
            <a:solidFill>
              <a:srgbClr val="4472C4"/>
            </a:solidFill>
            <a:tailEnd type="triangle" w="med" len="med"/>
          </a:ln>
        </p:spPr>
      </p:cxnSp>
      <p:sp>
        <p:nvSpPr>
          <p:cNvPr id="21" name="5 Redondear rectángulo de esquina diagonal 5">
            <a:extLst>
              <a:ext uri="{FF2B5EF4-FFF2-40B4-BE49-F238E27FC236}">
                <a16:creationId xmlns:a16="http://schemas.microsoft.com/office/drawing/2014/main" id="{4CAEB5A6-83C9-3CEB-2867-3E6358C442F5}"/>
              </a:ext>
            </a:extLst>
          </p:cNvPr>
          <p:cNvSpPr/>
          <p:nvPr/>
        </p:nvSpPr>
        <p:spPr>
          <a:xfrm>
            <a:off x="10690471" y="2794977"/>
            <a:ext cx="1264117" cy="520115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s-ES" sz="14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Anotaciones  </a:t>
            </a:r>
            <a:endParaRPr lang="es-E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2 Marcador de contenido 2">
            <a:extLst>
              <a:ext uri="{FF2B5EF4-FFF2-40B4-BE49-F238E27FC236}">
                <a16:creationId xmlns:a16="http://schemas.microsoft.com/office/drawing/2014/main" id="{691B6CBB-375E-C2E0-1410-9F26EBD04AE2}"/>
              </a:ext>
            </a:extLst>
          </p:cNvPr>
          <p:cNvSpPr/>
          <p:nvPr/>
        </p:nvSpPr>
        <p:spPr>
          <a:xfrm>
            <a:off x="449670" y="206700"/>
            <a:ext cx="4946753" cy="661693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GB" sz="1100" b="0" i="1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Nombre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: </a:t>
            </a: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Actividades</a:t>
            </a:r>
            <a:endParaRPr lang="es-ES" sz="11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defTabSz="914400"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GB" sz="1100" b="0" i="1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Objetivo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: </a:t>
            </a:r>
            <a:r>
              <a:rPr lang="es-ES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Permitir al usuario gestionar sus actividades deportivas, incluyendo la importación de archivos GPX, visualización de estadísticas y consulta de acumulados</a:t>
            </a:r>
            <a:endParaRPr lang="es-ES" sz="11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GB" sz="1100" b="0" i="1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Funciones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: </a:t>
            </a:r>
            <a:endParaRPr lang="es-ES" sz="11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indent="-23508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pos="355680" algn="l"/>
              </a:tabLst>
            </a:pPr>
            <a:r>
              <a:rPr lang="en-GB" sz="1100" dirty="0" err="1">
                <a:solidFill>
                  <a:schemeClr val="dk1"/>
                </a:solidFill>
                <a:latin typeface="+mj-lt"/>
              </a:rPr>
              <a:t>Funciones</a:t>
            </a:r>
            <a:r>
              <a:rPr lang="en-GB" sz="1100" dirty="0">
                <a:solidFill>
                  <a:schemeClr val="dk1"/>
                </a:solidFill>
                <a:latin typeface="+mj-lt"/>
              </a:rPr>
              <a:t> del </a:t>
            </a:r>
            <a:r>
              <a:rPr lang="en-GB" sz="1100" dirty="0" err="1">
                <a:solidFill>
                  <a:schemeClr val="dk1"/>
                </a:solidFill>
                <a:latin typeface="+mj-lt"/>
              </a:rPr>
              <a:t>usuario</a:t>
            </a:r>
            <a:endParaRPr lang="es-ES" sz="11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marL="450720" lvl="1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pos="355680" algn="l"/>
              </a:tabLst>
            </a:pPr>
            <a:r>
              <a:rPr lang="es-ES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Importar GPX</a:t>
            </a:r>
            <a:endParaRPr lang="es-ES" sz="11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marL="450720" lvl="1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pos="355680" algn="l"/>
              </a:tabLst>
            </a:pP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Seleccionar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 </a:t>
            </a: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actividad</a:t>
            </a:r>
            <a:endParaRPr lang="en-GB" sz="1100" b="0" u="none" strike="noStrike" dirty="0">
              <a:solidFill>
                <a:schemeClr val="dk1"/>
              </a:solidFill>
              <a:effectLst/>
              <a:uFillTx/>
              <a:latin typeface="+mj-lt"/>
            </a:endParaRPr>
          </a:p>
          <a:p>
            <a:pPr marL="450720" lvl="1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pos="355680" algn="l"/>
              </a:tabLst>
            </a:pPr>
            <a:r>
              <a:rPr lang="en-GB" sz="1100" dirty="0" err="1">
                <a:solidFill>
                  <a:schemeClr val="dk1"/>
                </a:solidFill>
                <a:latin typeface="+mj-lt"/>
              </a:rPr>
              <a:t>visualizar</a:t>
            </a:r>
            <a:r>
              <a:rPr lang="en-GB" sz="1100" dirty="0">
                <a:solidFill>
                  <a:schemeClr val="dk1"/>
                </a:solidFill>
                <a:latin typeface="+mj-lt"/>
              </a:rPr>
              <a:t> </a:t>
            </a:r>
            <a:r>
              <a:rPr lang="en-GB" sz="1100" dirty="0" err="1">
                <a:solidFill>
                  <a:schemeClr val="dk1"/>
                </a:solidFill>
                <a:latin typeface="+mj-lt"/>
              </a:rPr>
              <a:t>estadisticas</a:t>
            </a:r>
            <a:r>
              <a:rPr lang="en-GB" sz="1100" dirty="0">
                <a:solidFill>
                  <a:schemeClr val="dk1"/>
                </a:solidFill>
                <a:latin typeface="+mj-lt"/>
              </a:rPr>
              <a:t> </a:t>
            </a:r>
          </a:p>
          <a:p>
            <a:pPr marL="450720" lvl="1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pos="355680" algn="l"/>
              </a:tabLst>
            </a:pP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Consultar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 </a:t>
            </a: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acumulado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 </a:t>
            </a: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mensual</a:t>
            </a:r>
            <a:endParaRPr lang="en-GB" sz="1100" b="0" u="none" strike="noStrike" dirty="0">
              <a:solidFill>
                <a:schemeClr val="dk1"/>
              </a:solidFill>
              <a:effectLst/>
              <a:uFillTx/>
              <a:latin typeface="+mj-lt"/>
            </a:endParaRPr>
          </a:p>
          <a:p>
            <a:pPr indent="-2412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"/>
              <a:tabLst>
                <a:tab pos="355680" algn="l"/>
              </a:tabLst>
            </a:pPr>
            <a:r>
              <a:rPr lang="es-ES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Funciones del sistema</a:t>
            </a:r>
            <a:endParaRPr lang="es-ES" sz="11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marL="432000" lvl="1" indent="-2160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Char char="•"/>
              <a:tabLst>
                <a:tab pos="355680" algn="l"/>
              </a:tabLst>
            </a:pPr>
            <a:r>
              <a:rPr lang="es-ES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Procesar fichero GPX</a:t>
            </a:r>
          </a:p>
          <a:p>
            <a:pPr marL="432000" lvl="1" indent="-2160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Char char="•"/>
              <a:tabLst>
                <a:tab pos="355680" algn="l"/>
              </a:tabLst>
            </a:pPr>
            <a:r>
              <a:rPr lang="es-ES" sz="1100" dirty="0">
                <a:solidFill>
                  <a:schemeClr val="dk1"/>
                </a:solidFill>
                <a:latin typeface="+mj-lt"/>
              </a:rPr>
              <a:t>Registrar actividad</a:t>
            </a:r>
          </a:p>
          <a:p>
            <a:pPr marL="432000" lvl="1" indent="-2160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Char char="•"/>
              <a:tabLst>
                <a:tab pos="355680" algn="l"/>
              </a:tabLst>
            </a:pPr>
            <a:r>
              <a:rPr lang="es-ES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Calcular estadísticas </a:t>
            </a:r>
          </a:p>
          <a:p>
            <a:pPr marL="432000" lvl="1" indent="-2160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Char char="•"/>
              <a:tabLst>
                <a:tab pos="355680" algn="l"/>
              </a:tabLst>
            </a:pPr>
            <a:r>
              <a:rPr lang="es-ES" sz="1100" b="0" u="none" strike="noStrike" dirty="0">
                <a:solidFill>
                  <a:srgbClr val="000000"/>
                </a:solidFill>
                <a:effectLst/>
                <a:uFillTx/>
                <a:latin typeface="+mj-lt"/>
              </a:rPr>
              <a:t>Mostrar datos de la actividad</a:t>
            </a:r>
          </a:p>
          <a:p>
            <a:pPr marL="432000" lvl="1" indent="-2160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Char char="•"/>
              <a:tabLst>
                <a:tab pos="355680" algn="l"/>
              </a:tabLst>
            </a:pPr>
            <a:r>
              <a:rPr lang="es-ES" sz="1100" dirty="0">
                <a:solidFill>
                  <a:srgbClr val="000000"/>
                </a:solidFill>
                <a:latin typeface="+mj-lt"/>
              </a:rPr>
              <a:t>Calcular acumulados mensuales</a:t>
            </a:r>
            <a:endParaRPr lang="es-ES" sz="11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GB" sz="1100" b="0" i="1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Enlaces</a:t>
            </a:r>
            <a:r>
              <a:rPr lang="en-GB" sz="10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: </a:t>
            </a:r>
            <a:endParaRPr lang="es-ES" sz="10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marL="268200" defTabSz="914400">
              <a:lnSpc>
                <a:spcPct val="90000"/>
              </a:lnSpc>
              <a:spcBef>
                <a:spcPts val="624"/>
              </a:spcBef>
              <a:spcAft>
                <a:spcPts val="425"/>
              </a:spcAft>
              <a:tabLst>
                <a:tab pos="0" algn="l"/>
              </a:tabLst>
            </a:pPr>
            <a:r>
              <a:rPr lang="en-GB" sz="14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►</a:t>
            </a:r>
            <a:r>
              <a:rPr lang="en-GB" sz="10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 </a:t>
            </a:r>
            <a:r>
              <a:rPr lang="en-GB" sz="1100" b="1" dirty="0" err="1">
                <a:solidFill>
                  <a:schemeClr val="dk1"/>
                </a:solidFill>
                <a:latin typeface="+mj-lt"/>
              </a:rPr>
              <a:t>N</a:t>
            </a:r>
            <a:r>
              <a:rPr lang="en-GB" sz="1100" b="1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avegacionales</a:t>
            </a:r>
            <a:r>
              <a:rPr lang="en-GB" sz="1000" b="1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 </a:t>
            </a:r>
            <a:endParaRPr lang="es-ES" sz="1000" b="1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marL="268200" defTabSz="914400">
              <a:lnSpc>
                <a:spcPct val="90000"/>
              </a:lnSpc>
              <a:spcBef>
                <a:spcPts val="624"/>
              </a:spcBef>
              <a:spcAft>
                <a:spcPts val="425"/>
              </a:spcAft>
              <a:tabLst>
                <a:tab pos="0" algn="l"/>
              </a:tabLst>
            </a:pPr>
            <a:r>
              <a:rPr lang="en-GB" sz="8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►</a:t>
            </a:r>
            <a:r>
              <a:rPr lang="en-GB" sz="10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 </a:t>
            </a:r>
            <a:r>
              <a:rPr lang="en-GB" sz="1100" dirty="0" err="1">
                <a:solidFill>
                  <a:schemeClr val="dk1"/>
                </a:solidFill>
                <a:latin typeface="+mj-lt"/>
              </a:rPr>
              <a:t>visualizar</a:t>
            </a:r>
            <a:r>
              <a:rPr lang="en-GB" sz="1100" dirty="0">
                <a:solidFill>
                  <a:schemeClr val="dk1"/>
                </a:solidFill>
                <a:latin typeface="+mj-lt"/>
              </a:rPr>
              <a:t> </a:t>
            </a:r>
            <a:r>
              <a:rPr lang="en-GB" sz="1100" dirty="0" err="1">
                <a:solidFill>
                  <a:schemeClr val="dk1"/>
                </a:solidFill>
                <a:latin typeface="+mj-lt"/>
              </a:rPr>
              <a:t>actividad</a:t>
            </a:r>
            <a:endParaRPr lang="en-GB" sz="1000" b="0" u="none" strike="noStrike" dirty="0">
              <a:solidFill>
                <a:schemeClr val="dk1"/>
              </a:solidFill>
              <a:effectLst/>
              <a:uFillTx/>
              <a:latin typeface="+mj-lt"/>
            </a:endParaRPr>
          </a:p>
          <a:p>
            <a:pPr marL="268200">
              <a:lnSpc>
                <a:spcPct val="90000"/>
              </a:lnSpc>
              <a:spcBef>
                <a:spcPts val="624"/>
              </a:spcBef>
              <a:spcAft>
                <a:spcPts val="425"/>
              </a:spcAft>
              <a:tabLst>
                <a:tab pos="0" algn="l"/>
              </a:tabLst>
            </a:pPr>
            <a:r>
              <a:rPr lang="en-GB" sz="8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►</a:t>
            </a:r>
            <a:r>
              <a:rPr lang="en-GB" sz="10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 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Principal</a:t>
            </a:r>
            <a:endParaRPr lang="en-GB" sz="1000" b="0" u="none" strike="noStrike" dirty="0">
              <a:solidFill>
                <a:schemeClr val="dk1"/>
              </a:solidFill>
              <a:effectLst/>
              <a:uFillTx/>
              <a:latin typeface="+mj-lt"/>
            </a:endParaRPr>
          </a:p>
          <a:p>
            <a:pPr marL="268200">
              <a:lnSpc>
                <a:spcPct val="90000"/>
              </a:lnSpc>
              <a:spcBef>
                <a:spcPts val="624"/>
              </a:spcBef>
              <a:spcAft>
                <a:spcPts val="425"/>
              </a:spcAft>
              <a:tabLst>
                <a:tab pos="0" algn="l"/>
              </a:tabLst>
            </a:pPr>
            <a:r>
              <a:rPr lang="en-GB" sz="12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►</a:t>
            </a:r>
            <a:r>
              <a:rPr lang="en-GB" sz="10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 </a:t>
            </a:r>
            <a:r>
              <a:rPr lang="en-GB" sz="1100" b="1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funcionales</a:t>
            </a:r>
            <a:r>
              <a:rPr lang="en-GB" sz="1000" b="1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 </a:t>
            </a:r>
            <a:endParaRPr lang="en-GB" sz="1000" b="0" u="none" strike="noStrike" dirty="0">
              <a:solidFill>
                <a:schemeClr val="dk1"/>
              </a:solidFill>
              <a:effectLst/>
              <a:uFillTx/>
              <a:latin typeface="+mj-lt"/>
            </a:endParaRPr>
          </a:p>
          <a:p>
            <a:pPr marL="268200">
              <a:lnSpc>
                <a:spcPct val="90000"/>
              </a:lnSpc>
              <a:spcBef>
                <a:spcPts val="624"/>
              </a:spcBef>
              <a:spcAft>
                <a:spcPts val="425"/>
              </a:spcAft>
              <a:tabLst>
                <a:tab pos="0" algn="l"/>
              </a:tabLst>
            </a:pPr>
            <a:r>
              <a:rPr lang="en-GB" sz="8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►</a:t>
            </a:r>
            <a:r>
              <a:rPr lang="en-GB" sz="10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 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importer GPX</a:t>
            </a:r>
            <a:endParaRPr lang="en-GB" sz="1000" b="0" u="none" strike="noStrike" dirty="0">
              <a:solidFill>
                <a:schemeClr val="dk1"/>
              </a:solidFill>
              <a:effectLst/>
              <a:uFillTx/>
              <a:latin typeface="+mj-lt"/>
            </a:endParaRPr>
          </a:p>
          <a:p>
            <a:pPr marL="268200">
              <a:lnSpc>
                <a:spcPct val="90000"/>
              </a:lnSpc>
              <a:spcBef>
                <a:spcPts val="624"/>
              </a:spcBef>
              <a:spcAft>
                <a:spcPts val="425"/>
              </a:spcAft>
              <a:tabLst>
                <a:tab pos="0" algn="l"/>
              </a:tabLst>
            </a:pPr>
            <a:r>
              <a:rPr lang="en-GB" sz="8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►</a:t>
            </a:r>
            <a:r>
              <a:rPr lang="en-GB" sz="10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 </a:t>
            </a: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mostrar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 </a:t>
            </a: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estadisticas</a:t>
            </a:r>
            <a:endParaRPr lang="en-GB" sz="1000" b="0" u="none" strike="noStrike" dirty="0">
              <a:solidFill>
                <a:schemeClr val="dk1"/>
              </a:solidFill>
              <a:effectLst/>
              <a:uFillTx/>
              <a:latin typeface="+mj-lt"/>
            </a:endParaRPr>
          </a:p>
          <a:p>
            <a:pPr marL="268200">
              <a:lnSpc>
                <a:spcPct val="90000"/>
              </a:lnSpc>
              <a:spcBef>
                <a:spcPts val="624"/>
              </a:spcBef>
              <a:spcAft>
                <a:spcPts val="425"/>
              </a:spcAft>
              <a:tabLst>
                <a:tab pos="0" algn="l"/>
              </a:tabLst>
            </a:pPr>
            <a:r>
              <a:rPr lang="en-GB" sz="8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►</a:t>
            </a:r>
            <a:r>
              <a:rPr lang="en-GB" sz="10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 </a:t>
            </a: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calcular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 </a:t>
            </a: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acumulado</a:t>
            </a:r>
            <a:endParaRPr lang="es-ES" sz="11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pos="0" algn="l"/>
              </a:tabLst>
            </a:pPr>
            <a:r>
              <a:rPr lang="en-GB" sz="1100" b="0" i="1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Objetos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: </a:t>
            </a:r>
            <a:endParaRPr lang="es-ES" sz="11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pos="0" algn="l"/>
              </a:tabLst>
            </a:pP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Activity, TrackPoint, </a:t>
            </a: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usuario</a:t>
            </a:r>
            <a:endParaRPr lang="en-GB" sz="1100" i="1" dirty="0">
              <a:solidFill>
                <a:schemeClr val="dk1"/>
              </a:solidFill>
              <a:latin typeface="+mj-lt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pos="0" algn="l"/>
              </a:tabLst>
            </a:pPr>
            <a:r>
              <a:rPr lang="en-GB" sz="1100" b="0" i="1" u="none" strike="noStrike" dirty="0" err="1">
                <a:solidFill>
                  <a:schemeClr val="dk1"/>
                </a:solidFill>
                <a:effectLst/>
                <a:uFillTx/>
                <a:latin typeface="+mj-lt"/>
              </a:rPr>
              <a:t>Restricciones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: </a:t>
            </a:r>
            <a:endParaRPr lang="es-ES" sz="11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marL="268200" defTabSz="914400">
              <a:lnSpc>
                <a:spcPct val="90000"/>
              </a:lnSpc>
              <a:tabLst>
                <a:tab pos="0" algn="l"/>
              </a:tabLst>
            </a:pP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icrosoft YaHei"/>
              </a:rPr>
              <a:t>- </a:t>
            </a:r>
            <a:r>
              <a:rPr lang="es-ES" sz="1100" b="0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icrosoft YaHei"/>
              </a:rPr>
              <a:t>El fichero debe ser formato .</a:t>
            </a:r>
            <a:r>
              <a:rPr lang="es-ES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icrosoft YaHei"/>
              </a:rPr>
              <a:t>gpx</a:t>
            </a:r>
            <a:endParaRPr lang="es-ES" sz="11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marL="268200" defTabSz="914400">
              <a:lnSpc>
                <a:spcPct val="90000"/>
              </a:lnSpc>
              <a:tabLst>
                <a:tab pos="0" algn="l"/>
              </a:tabLst>
            </a:pP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icrosoft YaHei"/>
              </a:rPr>
              <a:t>- </a:t>
            </a:r>
            <a:r>
              <a:rPr lang="es-ES" sz="1100" b="0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icrosoft YaHei"/>
              </a:rPr>
              <a:t>La actividad debe existir para visualizarla</a:t>
            </a:r>
            <a:endParaRPr lang="es-ES" sz="11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marL="268200" defTabSz="914400">
              <a:lnSpc>
                <a:spcPct val="90000"/>
              </a:lnSpc>
              <a:tabLst>
                <a:tab pos="0" algn="l"/>
              </a:tabLst>
            </a:pP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icrosoft YaHei"/>
              </a:rPr>
              <a:t>- Debe </a:t>
            </a: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icrosoft YaHei"/>
              </a:rPr>
              <a:t>existir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icrosoft YaHei"/>
              </a:rPr>
              <a:t> </a:t>
            </a: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icrosoft YaHei"/>
              </a:rPr>
              <a:t>usuario</a:t>
            </a:r>
            <a:r>
              <a:rPr lang="en-GB" sz="1100" b="0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icrosoft YaHei"/>
              </a:rPr>
              <a:t> </a:t>
            </a:r>
            <a:r>
              <a:rPr lang="en-GB" sz="1100" b="0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icrosoft YaHei"/>
              </a:rPr>
              <a:t>autenticado</a:t>
            </a:r>
            <a:endParaRPr lang="es-ES" sz="11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</TotalTime>
  <Words>302</Words>
  <Application>Microsoft Office PowerPoint</Application>
  <PresentationFormat>Panorámica</PresentationFormat>
  <Paragraphs>87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9" baseType="lpstr">
      <vt:lpstr>Arial</vt:lpstr>
      <vt:lpstr>Calibri</vt:lpstr>
      <vt:lpstr>Calibri Light</vt:lpstr>
      <vt:lpstr>Symbol</vt:lpstr>
      <vt:lpstr>Times New Roman</vt:lpstr>
      <vt:lpstr>Wingdings</vt:lpstr>
      <vt:lpstr>Tema de Office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Soledad Valero Cubas</dc:creator>
  <dc:description/>
  <cp:lastModifiedBy>Maria Alexandra Clep Duca</cp:lastModifiedBy>
  <cp:revision>16</cp:revision>
  <dcterms:created xsi:type="dcterms:W3CDTF">2021-03-11T14:14:40Z</dcterms:created>
  <dcterms:modified xsi:type="dcterms:W3CDTF">2026-05-08T09:50:43Z</dcterms:modified>
  <dc:language>es-ES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1</vt:i4>
  </property>
</Properties>
</file>